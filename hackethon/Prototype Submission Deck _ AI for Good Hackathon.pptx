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</p:sldIdLst>
  <p:sldSz cx="9144000" cy="5143500" type="screen16x9"/>
  <p:notesSz cx="6858000" cy="9144000"/>
  <p:embeddedFontLst>
    <p:embeddedFont>
      <p:font typeface="Noto Sans" panose="020B0502040504020204" pitchFamily="34" charset="0"/>
      <p:regular r:id="rId17"/>
      <p:bold r:id="rId18"/>
      <p:italic r:id="rId19"/>
      <p:boldItalic r:id="rId20"/>
    </p:embeddedFont>
    <p:embeddedFont>
      <p:font typeface="Noto Sans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11DD0F7E-5BAB-4831-8DD2-16B71A55B31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Untitled Section" id="{A0B562D2-C621-40B9-88E1-60F0E8769733}">
          <p14:sldIdLst>
            <p14:sldId id="264"/>
            <p14:sldId id="268"/>
            <p14:sldId id="265"/>
            <p14:sldId id="266"/>
            <p14:sldId id="267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83d44002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83d44002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83d44002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83d44002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3d44002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83d44002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3d44002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3d44002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3d44002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3d44002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3d44002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83d440026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2332b40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2332b40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83d44002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83d44002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3d44002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83d44002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37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83d44002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83d44002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83d440026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83d440026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3d44002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83d440026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83d44002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83d44002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I for good IS S1.png"/>
          <p:cNvPicPr preferRelativeResize="0"/>
          <p:nvPr/>
        </p:nvPicPr>
        <p:blipFill rotWithShape="1">
          <a:blip r:embed="rId3">
            <a:alphaModFix/>
          </a:blip>
          <a:srcRect b="50000"/>
          <a:stretch/>
        </p:blipFill>
        <p:spPr>
          <a:xfrm>
            <a:off x="0" y="0"/>
            <a:ext cx="91440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AI for good IS S1.png"/>
          <p:cNvPicPr preferRelativeResize="0"/>
          <p:nvPr/>
        </p:nvPicPr>
        <p:blipFill rotWithShape="1">
          <a:blip r:embed="rId3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16863" y="2737596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Noto Sans SemiBold"/>
                <a:ea typeface="Noto Sans SemiBold"/>
                <a:cs typeface="Noto Sans SemiBold"/>
                <a:sym typeface="Noto Sans SemiBold"/>
              </a:rPr>
              <a:t>Team Details</a:t>
            </a:r>
            <a:endParaRPr sz="1800" dirty="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marL="914400" lvl="1" indent="-342900">
              <a:buSzPts val="1800"/>
              <a:buFont typeface="Noto Sans SemiBold"/>
              <a:buAutoNum type="alphaLcPeriod"/>
            </a:pPr>
            <a:r>
              <a:rPr lang="en-GB" sz="1800" dirty="0">
                <a:latin typeface="Noto Sans SemiBold"/>
                <a:ea typeface="Noto Sans SemiBold"/>
                <a:cs typeface="Noto Sans SemiBold"/>
                <a:sym typeface="Noto Sans SemiBold"/>
              </a:rPr>
              <a:t>Team name: </a:t>
            </a:r>
            <a:r>
              <a:rPr lang="en-GB" sz="1800" dirty="0">
                <a:latin typeface="+mj-lt"/>
                <a:ea typeface="Noto Sans SemiBold"/>
                <a:cs typeface="Noto Sans SemiBold"/>
                <a:sym typeface="Noto Sans SemiBold"/>
              </a:rPr>
              <a:t>Lekha.ai</a:t>
            </a:r>
            <a:endParaRPr sz="1800" dirty="0">
              <a:latin typeface="+mj-lt"/>
              <a:ea typeface="Noto Sans SemiBold"/>
              <a:cs typeface="Noto Sans SemiBold"/>
              <a:sym typeface="Noto Sans SemiBold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AutoNum type="alphaLcPeriod"/>
            </a:pPr>
            <a:r>
              <a:rPr lang="en-GB" sz="1800" dirty="0">
                <a:latin typeface="Noto Sans SemiBold"/>
                <a:ea typeface="Noto Sans SemiBold"/>
                <a:cs typeface="Noto Sans SemiBold"/>
                <a:sym typeface="Noto Sans SemiBold"/>
              </a:rPr>
              <a:t>Team leader name: </a:t>
            </a:r>
            <a:r>
              <a:rPr lang="en-GB" sz="1800" dirty="0">
                <a:latin typeface="+mn-lt"/>
                <a:ea typeface="Noto Sans SemiBold"/>
                <a:cs typeface="Noto Sans SemiBold"/>
                <a:sym typeface="Noto Sans SemiBold"/>
              </a:rPr>
              <a:t>Jay Gavali</a:t>
            </a:r>
            <a:endParaRPr sz="1800" dirty="0">
              <a:latin typeface="+mn-lt"/>
              <a:ea typeface="Noto Sans SemiBold"/>
              <a:cs typeface="Noto Sans SemiBold"/>
              <a:sym typeface="Noto Sans SemiBold"/>
            </a:endParaRPr>
          </a:p>
          <a:p>
            <a:pPr marL="914400" lvl="1" indent="-342900">
              <a:buSzPts val="1800"/>
              <a:buFont typeface="Noto Sans SemiBold"/>
              <a:buAutoNum type="alphaLcPeriod"/>
            </a:pPr>
            <a:r>
              <a:rPr lang="en-GB" sz="1800" dirty="0">
                <a:latin typeface="Noto Sans SemiBold"/>
                <a:ea typeface="Noto Sans SemiBold"/>
                <a:cs typeface="Noto Sans SemiBold"/>
                <a:sym typeface="Noto Sans SemiBold"/>
              </a:rPr>
              <a:t>Problem Statement: </a:t>
            </a:r>
            <a:r>
              <a:rPr lang="en-US" sz="1800" dirty="0">
                <a:latin typeface="+mn-lt"/>
                <a:ea typeface="Noto Sans SemiBold" panose="020B0604020202020204" charset="0"/>
                <a:cs typeface="Noto Sans SemiBold" panose="020B0604020202020204" charset="0"/>
              </a:rPr>
              <a:t>Tenants often face complex, jargon-heavy rental agreements that hide unfair clauses, leading to legal vulnerability and financial loss. Many tenants lack the legal expertise to identify "red flags" before signing.</a:t>
            </a:r>
            <a:endParaRPr sz="1800" dirty="0">
              <a:latin typeface="+mn-lt"/>
              <a:ea typeface="Noto Sans SemiBold" panose="020B0604020202020204" charset="0"/>
              <a:cs typeface="Noto Sans SemiBold" panose="020B0604020202020204" charset="0"/>
              <a:sym typeface="Noto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Brief about the idea/protoype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90276" y="1381787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000" dirty="0"/>
              <a:t>Lekha.ai is a specialized legal-tech web application that uses Generative AI to translate complex rental contracts into plain English</a:t>
            </a:r>
          </a:p>
          <a:p>
            <a:pPr lvl="0" algn="ctr"/>
            <a:endParaRPr lang="en-US" sz="2000" dirty="0"/>
          </a:p>
          <a:p>
            <a:pPr lvl="0" algn="ctr"/>
            <a:endParaRPr lang="en-US" sz="2000" dirty="0"/>
          </a:p>
          <a:p>
            <a:pPr lvl="0" algn="ctr"/>
            <a:endParaRPr lang="en-US" sz="2000" dirty="0"/>
          </a:p>
          <a:p>
            <a:pPr lvl="0" algn="ctr"/>
            <a:r>
              <a:rPr lang="en-IN" sz="2000" dirty="0"/>
              <a:t>Users upload a PDF, DOCX, or paste lease text. The system runs a dual-layer analysis—combining rule-based keyword detection with deep semantic reasoning via Google Gemini—to provide an instant fairness rating</a:t>
            </a:r>
            <a:endParaRPr lang="en-US" sz="2000" dirty="0"/>
          </a:p>
          <a:p>
            <a:pPr lvl="0"/>
            <a:endParaRPr lang="en-US" sz="1200" dirty="0">
              <a:latin typeface="Noto Sans"/>
              <a:ea typeface="Noto Sans"/>
              <a:cs typeface="Noto Sans"/>
              <a:sym typeface="Noto Sans"/>
            </a:endParaRPr>
          </a:p>
          <a:p>
            <a:pPr lvl="0"/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65350" y="701175"/>
            <a:ext cx="6647100" cy="1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Noto Sans"/>
                <a:ea typeface="Noto Sans"/>
                <a:cs typeface="Noto Sans"/>
                <a:sym typeface="Noto Sans"/>
              </a:rPr>
              <a:t>Opportunities</a:t>
            </a:r>
            <a:br>
              <a:rPr lang="en-GB" sz="1600" b="1" dirty="0">
                <a:latin typeface="Noto Sans"/>
                <a:ea typeface="Noto Sans"/>
                <a:cs typeface="Noto Sans"/>
                <a:sym typeface="Noto Sans"/>
              </a:rPr>
            </a:br>
            <a:endParaRPr lang="en-IN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152400" lvl="0" algn="l" rtl="0">
              <a:spcBef>
                <a:spcPts val="0"/>
              </a:spcBef>
              <a:spcAft>
                <a:spcPts val="0"/>
              </a:spcAft>
              <a:buSzPts val="1200"/>
            </a:pPr>
            <a:endParaRPr lang="en-IN" sz="1200" dirty="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A7554-F885-5EED-B886-CE0C0E44B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1433960"/>
            <a:ext cx="90973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Market Difference: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Unlike generic document summaries, Lekha.ai is context-aware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Indian Tenancy Laws and regional state-specific regulations.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 Solving: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empowers tenants to negotiate terms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signing,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preventing future legal disputes.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USP (Unique Selling Proposition):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1.The Lekha Score: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proprietary 0-100 Danger Rating scale.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2.Dual-Layer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Merges hardcoded legal safety rules with LLM intelligence.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3.Regional Awareness: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Tailored analysis based on the specific Indian state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the property.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34150" y="6425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Noto Sans"/>
                <a:ea typeface="Noto Sans"/>
                <a:cs typeface="Noto Sans"/>
                <a:sym typeface="Noto Sans"/>
              </a:rPr>
              <a:t>List of features offered by the solution</a:t>
            </a:r>
            <a:endParaRPr sz="1600" b="1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71093-3D50-05E2-81CF-B4AED4E51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68" y="1243603"/>
            <a:ext cx="830547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Risk Assessment: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Detects high-priority issues like illegal 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deposit retention or unauthorized entry clauses.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Multi-Format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 support for PDF, Word, and text-based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 Clause Highlighting: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Identifies standard, protective terms to reassure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tenant.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Recommendations: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specific next steps and negotiation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Auth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Encrypted user accounts for managing analysis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Process flow diagram or Use-case diagram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4145E2-F421-04A9-BC61-7F5FC051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50" y="1402726"/>
            <a:ext cx="831830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logs in and uploads a rental agreement (PDF/DOCX/Text).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Flask backend extracts text and executes a rule-based scan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"Danger Keywords".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Extracted text and preliminary findings are sent to the Google Gemini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Gemini performs a semantic legal audit and returns a structured JSON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renders a color-coded dashboard with the Lekha Score, Red Flags,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Architecture diagram of the proposed solution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3360928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9982AF-22E9-1184-5369-A0B9A4A5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0" y="1705235"/>
            <a:ext cx="77027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HTML5, CSS3, and Vanilla JavaScript (SPA architecture).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API: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Flask server managing document processing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orchestration.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for secure user profile management and credential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hashing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Werkzeug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Gemini 1.5 Flash for high-speed, accurate legal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Tech Stack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289549-9FB3-1A3A-2684-07117FEB1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0" y="1930193"/>
            <a:ext cx="554831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Languages: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JavaScript,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Flask, Flask-CORS.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Parsing: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PyPDF2, python-docx.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ML: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Generative AI (Gemini SDK).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Dotenv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secure API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Snowflake tools and technology used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1322975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B1FB3D-F0DC-4701-91FA-F0F04A278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0" y="1524997"/>
            <a:ext cx="750718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Engine: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Utilizes Gemini's large context window to process entire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15+ page contracts in 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architecture is designed to scale horizontally; future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iterations can utilize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Snowflake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large-scale legal data warehousing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trend analysis across thousands of analyzed leases.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86929" y="567707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Noto Sans"/>
                <a:ea typeface="Noto Sans"/>
                <a:cs typeface="Noto Sans"/>
                <a:sym typeface="Noto Sans"/>
              </a:rPr>
              <a:t>Snapshots of the prototype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2293E-A2CF-2923-2A6F-9573DCF78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15" y="1055557"/>
            <a:ext cx="867416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Snapshot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Landing page featuring the professional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Lekha.ai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front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Snapshot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Interactive analyzer view with the "Danger Marker" and Lekha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E3F76883-4CEC-2C62-34B7-2CD041BDE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65" y="1396069"/>
            <a:ext cx="7061847" cy="18526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7462C7-6D6F-8524-77AB-F3C26C1F7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6755" y="3589234"/>
            <a:ext cx="2189326" cy="14865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265350" y="1123250"/>
            <a:ext cx="6647100" cy="308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Snapshot 3: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Detailed Ai Summary view highlighting Red Flags and next steps.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265350" y="701175"/>
            <a:ext cx="6647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43B7E3-501E-0F80-C06E-D4E045896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108" y="1845608"/>
            <a:ext cx="5153736" cy="250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73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Estimated implementation cost (optional)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376862" y="3427836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3B24E-BD05-6E27-68A3-6C24C421C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668" y="1833086"/>
            <a:ext cx="70359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Minimal (serverless backend).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Costs: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 based on API usage (Gemini Flash offers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high-value, low-cost tier).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hosting (AWS/Azure) and Managed MySQL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3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Additional Details/Future Development (if any)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354560" y="3204811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B18D1A-735D-39E0-FB3B-38429F160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50" y="1836301"/>
            <a:ext cx="77925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Negotiation Assistant: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AI-drafted emails to landlords requesting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clause revisions.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Languages: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for agreements in Hindi, Marathi,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other Indian vernaculars.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Legal Marketplace: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Connecting users to verified tenant-rights lawyers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critical cases.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302521" y="701175"/>
            <a:ext cx="6647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GitHub and Demo video URL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-91489" y="1170675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8EFCCC-7AD9-A8A7-C2E3-0576C3910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89" y="1366534"/>
            <a:ext cx="875912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Repository: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https://github.com/jay192005/Rent_Agreement_Checker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 Video: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   https://drive.google.com/file/d/155baVDW1DC3aFpl1P60M8U9Koi186Ipa/view?usp=sharing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 title="AI for good IS S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746</Words>
  <Application>Microsoft Office PowerPoint</Application>
  <PresentationFormat>On-screen Show (16:9)</PresentationFormat>
  <Paragraphs>103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Noto Sans SemiBold</vt:lpstr>
      <vt:lpstr>Noto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 GAVALI</dc:creator>
  <cp:lastModifiedBy>jay gavali</cp:lastModifiedBy>
  <cp:revision>1</cp:revision>
  <dcterms:modified xsi:type="dcterms:W3CDTF">2026-01-04T18:25:18Z</dcterms:modified>
</cp:coreProperties>
</file>